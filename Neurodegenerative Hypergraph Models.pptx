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Roboto"/>
      <p:regular r:id="rId18"/>
      <p:bold r:id="rId19"/>
      <p:italic r:id="rId20"/>
      <p:boldItalic r:id="rId21"/>
    </p:embeddedFont>
    <p:embeddedFont>
      <p:font typeface="Merriweather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547FE84-73CE-4FAE-94A6-B26F7D73264B}">
  <a:tblStyle styleId="{3547FE84-73CE-4FAE-94A6-B26F7D73264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22" Type="http://schemas.openxmlformats.org/officeDocument/2006/relationships/font" Target="fonts/Merriweather-regular.fntdata"/><Relationship Id="rId21" Type="http://schemas.openxmlformats.org/officeDocument/2006/relationships/font" Target="fonts/Roboto-boldItalic.fntdata"/><Relationship Id="rId24" Type="http://schemas.openxmlformats.org/officeDocument/2006/relationships/font" Target="fonts/Merriweather-italic.fntdata"/><Relationship Id="rId23" Type="http://schemas.openxmlformats.org/officeDocument/2006/relationships/font" Target="fonts/Merriweather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font" Target="fonts/Merriweather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Roboto-bold.fntdata"/><Relationship Id="rId1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daeac1e62c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daeac1e62c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Jacob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aeac1e62c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aeac1e62c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DAN: 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aeac1e62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daeac1e62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Abe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daeac1e62c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daeac1e62c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Per-patient encoder (Node Feature Extraction):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○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MRI → 3D DenseNet121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○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Tabular 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Hypergraph construction (across all N nodes):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○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6 diagnosis hyperedges — one per class, train nodes only (prevents leakage)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○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 kNN hyperedges (k=5) over tabular feature space — capture local similarity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Attention-Weighted Hypergraph Conv (×2 layers):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○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Attention MLP scores each (node, hyperedge) pair using z + edge embedding → α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○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Masked softmax over edge members → weighted incidence B_w = H ⊙ α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○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Propagate: X′ = D_v⁻¹ · (B⊙α)(B⊙α)ᵀ · X · W → LayerNorm + Dropout + ReLU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○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Attention is computed from z (image content), keeping it tied to imaging signal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Classifier head: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○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Dropout → Linear(256→6) → 6-class logits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System outputs: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○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6-class classification logits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○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AWHGCN node embeddings for UMAP visualization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○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Soft probability scores per class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Two-stage training: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○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Stage 1: CNN pretraining with Cross-Entropy (label smoothing 0.1), 30 epochs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○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Stage 2: Joint fine-tuning, loss = CE + 0.1 × Supervised Contrastive (pulls same-class embeddings together)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a6e185e6d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9a6e185e6d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Abe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aeac1e62c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daeac1e62c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&gt; My model is a Gated Cross-Modal Hypergraph Network →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&gt; Goal is to use clinical tab data to PROPOSE Px relationships → THEN use mri features to REFINE them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arenR"/>
            </a:pPr>
            <a:r>
              <a:rPr b="1" lang="en"/>
              <a:t>MRI ENCODER</a:t>
            </a:r>
            <a:r>
              <a:rPr lang="en"/>
              <a:t> → pased through small 3D CNN encoder → to 128 dim embedding → each px is node represented by struct brain feats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arenR"/>
            </a:pPr>
            <a:r>
              <a:rPr b="1" lang="en"/>
              <a:t>CLINICAL HYPEREDGE BUILDER </a:t>
            </a:r>
            <a:r>
              <a:rPr lang="en"/>
              <a:t>→ clinical tab features passed thru MLP → produces soft hyperedge memberships → each Px belongs partially to multiple subgroups instead of forced into one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arenR"/>
            </a:pPr>
            <a:r>
              <a:rPr b="1" lang="en"/>
              <a:t>MRI GATING MECHANISM</a:t>
            </a:r>
            <a:r>
              <a:rPr lang="en"/>
              <a:t> → key part… MRI embedding produces a gate between 0 and 1 for each hyper edge. ⇒ ⇒ clinical data suggests these relationships,, MRI decides how much to keep or suppres relationships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arenR"/>
            </a:pPr>
            <a:r>
              <a:rPr lang="en"/>
              <a:t>CLINICAL DATA = propose groupings of Px, MRI DATA validates/weakens them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arenR"/>
            </a:pPr>
            <a:r>
              <a:rPr b="1" lang="en"/>
              <a:t>REFINED HYPERGRAPH</a:t>
            </a:r>
            <a:r>
              <a:rPr lang="en"/>
              <a:t> → after gating → renormalize hyperedge memberships → then each Px memberships still sum properly to 1 → GIVES FULL HGRAPH STRUCTURE USED FOR MESSAGE PASSING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arenR"/>
            </a:pPr>
            <a:r>
              <a:rPr b="1" lang="en"/>
              <a:t>HYPERGRAPH MESSAGE PASSING </a:t>
            </a:r>
            <a:r>
              <a:rPr lang="en"/>
              <a:t>→ </a:t>
            </a:r>
            <a:r>
              <a:rPr lang="en"/>
              <a:t>graph</a:t>
            </a:r>
            <a:r>
              <a:rPr lang="en"/>
              <a:t> convl builds a pt to pt propagation mx from shared hyperedge memberships → Pxs w similar gated clinical-mri profiles exchange info and model learns which Hedges are more important -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arenR"/>
            </a:pPr>
            <a:r>
              <a:rPr b="1" lang="en"/>
              <a:t>FINALLY </a:t>
            </a:r>
            <a:r>
              <a:rPr lang="en"/>
              <a:t>→ </a:t>
            </a:r>
            <a:r>
              <a:rPr b="1" lang="en" u="sng"/>
              <a:t>CLASSIFIER </a:t>
            </a:r>
            <a:r>
              <a:rPr lang="en"/>
              <a:t>→ goes through layer norm, dropour, linear clf to produce logits for six disease classes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WHY GATING? ⇒ </a:t>
            </a:r>
            <a:r>
              <a:rPr lang="en"/>
              <a:t>two Pxs can look similar clinically but have diffeent structural MRI patterns → GATE LETS IMAGING FEATYRES CORRECT OR REFINE RELATIONSHIP STR FROM CLINICAL DATA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daeac1e62c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daeac1e62c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&gt; Can see a results table here of the baseline and our model performances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&gt; Baseline: CNN trained on only 3D MRI images, XGBOOST trained on only tabular clinical data.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&gt; Can be seen that each of our models underperformed in relation to </a:t>
            </a:r>
            <a:r>
              <a:rPr lang="en"/>
              <a:t>baselines</a:t>
            </a:r>
            <a:r>
              <a:rPr lang="en"/>
              <a:t>, with the HYPERFUSE model getting the best macro-f1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&gt; Likely reasons: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&gt; Had a very small dataset → multi modal and graph structure learning models like ours require more training data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&gt; Full dataset was around 1.7 TB so not feasible for this project → only used a small subset around 20-30 GB (~ 200 Px)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daeac1e62c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daeac1e62c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Abe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daeac1e62c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daeac1e62c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Jacob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9a6e185e6d_1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9a6e185e6d_1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Graph-Based Multimodal Fusion for Dementia Subtype Classification</a:t>
            </a:r>
            <a:endParaRPr/>
          </a:p>
        </p:txBody>
      </p:sp>
      <p:sp>
        <p:nvSpPr>
          <p:cNvPr id="65" name="Google Shape;65;p13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 Architectural Comparison</a:t>
            </a:r>
            <a:endParaRPr/>
          </a:p>
        </p:txBody>
      </p:sp>
      <p:sp>
        <p:nvSpPr>
          <p:cNvPr id="66" name="Google Shape;66;p13"/>
          <p:cNvSpPr txBox="1"/>
          <p:nvPr>
            <p:ph idx="1" type="subTitle"/>
          </p:nvPr>
        </p:nvSpPr>
        <p:spPr>
          <a:xfrm>
            <a:off x="3592775" y="4238800"/>
            <a:ext cx="5343900" cy="73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accent3"/>
                </a:solidFill>
              </a:rPr>
              <a:t>Abraham Furlan, Daniel Noone, Jacob Mongold</a:t>
            </a:r>
            <a:endParaRPr sz="19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type="title"/>
          </p:nvPr>
        </p:nvSpPr>
        <p:spPr>
          <a:xfrm>
            <a:off x="311700" y="339050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</a:t>
            </a:r>
            <a:endParaRPr/>
          </a:p>
        </p:txBody>
      </p:sp>
      <p:sp>
        <p:nvSpPr>
          <p:cNvPr id="72" name="Google Shape;72;p14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Clinical Motivation:</a:t>
            </a:r>
            <a:endParaRPr b="1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Differential diagnosis between Alzheimer's, vascular dementia, Lewy body, and frontotemporal dementia is difficult in practice because these conditions share cognitive symptoms but differ in underlying pathology and brain structure.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Mild </a:t>
            </a:r>
            <a:r>
              <a:rPr lang="en"/>
              <a:t>Cognitive</a:t>
            </a:r>
            <a:r>
              <a:rPr lang="en"/>
              <a:t> Impairment (MCI) patients represent a clinically ambiguous population, or early accurate risk stratification could change care trajectories.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4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Other Motivations: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Dementia diagnosis naturally involves multimodal evidence like:</a:t>
            </a:r>
            <a:endParaRPr/>
          </a:p>
          <a:p>
            <a:pPr indent="-287973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84615"/>
              <a:buFont typeface="Arial"/>
              <a:buChar char="●"/>
            </a:pPr>
            <a:r>
              <a:rPr lang="en"/>
              <a:t>Structural MRI</a:t>
            </a:r>
            <a:endParaRPr/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84615"/>
              <a:buFont typeface="Arial"/>
              <a:buChar char="●"/>
            </a:pPr>
            <a:r>
              <a:rPr lang="en"/>
              <a:t>Cognitive assessments</a:t>
            </a:r>
            <a:endParaRPr/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84615"/>
              <a:buFont typeface="Arial"/>
              <a:buChar char="●"/>
            </a:pPr>
            <a:r>
              <a:rPr lang="en"/>
              <a:t>Vascular risk</a:t>
            </a:r>
            <a:endParaRPr/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84615"/>
              <a:buFont typeface="Arial"/>
              <a:buChar char="●"/>
            </a:pPr>
            <a:r>
              <a:rPr lang="en"/>
              <a:t>Genetics</a:t>
            </a:r>
            <a:endParaRPr/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84615"/>
              <a:buFont typeface="Arial"/>
              <a:buChar char="●"/>
            </a:pPr>
            <a:r>
              <a:rPr lang="en"/>
              <a:t>Medical history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But most models use these modalities in isolation or fuse them too late in the pipeline.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Late fusion approaches miss early interactions between imaging and clinical features that may be diagnostically important.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Related w</a:t>
            </a:r>
            <a:r>
              <a:rPr lang="en"/>
              <a:t>orks:</a:t>
            </a:r>
            <a:endParaRPr/>
          </a:p>
        </p:txBody>
      </p:sp>
      <p:sp>
        <p:nvSpPr>
          <p:cNvPr id="79" name="Google Shape;79;p15"/>
          <p:cNvSpPr txBox="1"/>
          <p:nvPr>
            <p:ph idx="1" type="body"/>
          </p:nvPr>
        </p:nvSpPr>
        <p:spPr>
          <a:xfrm>
            <a:off x="-4509500" y="-9896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/>
              <a:t>Multimodal Fusion:</a:t>
            </a:r>
            <a:endParaRPr b="1"/>
          </a:p>
          <a:p>
            <a:pPr indent="-304959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Pölsterl et al. — Combining 3D image and tabular data via the dynamic affine feature map transform</a:t>
            </a:r>
            <a:endParaRPr/>
          </a:p>
          <a:p>
            <a:pPr indent="-304959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Xue et al. — AI-based differential diagnosis of dementia etiologies on multimodal data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u="sng"/>
              <a:t>Hypergraph Methods:</a:t>
            </a:r>
            <a:endParaRPr b="1"/>
          </a:p>
          <a:p>
            <a:pPr indent="-304959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Ding et al. — Hypergraph convolutional network for longitudinal data analysis in Alzheimer's disease</a:t>
            </a:r>
            <a:endParaRPr/>
          </a:p>
          <a:p>
            <a:pPr indent="-304959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Yang et al. (2022) — An evolving hypergraph convolutional network for the diagnosis of Alzheimer's disease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u="sng"/>
              <a:t>Neurological Diseases:</a:t>
            </a:r>
            <a:endParaRPr b="1"/>
          </a:p>
          <a:p>
            <a:pPr indent="-304959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Cao et al. — Dementia classification using a graph neural network on imaging of effective brain connectivity</a:t>
            </a:r>
            <a:endParaRPr/>
          </a:p>
          <a:p>
            <a:pPr indent="-304959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Zheng et al. — CI-GNN: A Granger causality-inspired graph neural network for interpretable brain network-based psychiatric diagnosis</a:t>
            </a:r>
            <a:endParaRPr/>
          </a:p>
        </p:txBody>
      </p:sp>
      <p:sp>
        <p:nvSpPr>
          <p:cNvPr id="80" name="Google Shape;80;p15"/>
          <p:cNvSpPr txBox="1"/>
          <p:nvPr/>
        </p:nvSpPr>
        <p:spPr>
          <a:xfrm>
            <a:off x="7327675" y="-917650"/>
            <a:ext cx="7376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" name="Google Shape;81;p15"/>
          <p:cNvSpPr txBox="1"/>
          <p:nvPr>
            <p:ph idx="1" type="body"/>
          </p:nvPr>
        </p:nvSpPr>
        <p:spPr>
          <a:xfrm>
            <a:off x="4420950" y="298100"/>
            <a:ext cx="4624800" cy="37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Population Graphs for Patient Modeling:</a:t>
            </a:r>
            <a:endParaRPr b="1" sz="1400">
              <a:solidFill>
                <a:schemeClr val="dk1"/>
              </a:solidFill>
            </a:endParaRPr>
          </a:p>
          <a:p>
            <a:pPr indent="-304959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GNNs used to model patients as nodes</a:t>
            </a:r>
            <a:endParaRPr>
              <a:solidFill>
                <a:schemeClr val="dk1"/>
              </a:solidFill>
            </a:endParaRPr>
          </a:p>
          <a:p>
            <a:pPr indent="-30495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Improves diagnosis by incorporating clinical similarities</a:t>
            </a:r>
            <a:endParaRPr>
              <a:solidFill>
                <a:schemeClr val="dk1"/>
              </a:solidFill>
            </a:endParaRPr>
          </a:p>
          <a:p>
            <a:pPr indent="-30495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>
                <a:solidFill>
                  <a:schemeClr val="dk1"/>
                </a:solidFill>
              </a:rPr>
              <a:t>Key</a:t>
            </a:r>
            <a:r>
              <a:rPr lang="en">
                <a:solidFill>
                  <a:schemeClr val="dk1"/>
                </a:solidFill>
              </a:rPr>
              <a:t>: modeling relationships between patients improves diagnostic performance [1,2,3,4,5]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Hypergraphs for Higher-Order Relationships</a:t>
            </a:r>
            <a:endParaRPr sz="1200">
              <a:solidFill>
                <a:schemeClr val="dk1"/>
              </a:solidFill>
            </a:endParaRPr>
          </a:p>
          <a:p>
            <a:pPr indent="-29908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200">
                <a:solidFill>
                  <a:schemeClr val="dk1"/>
                </a:solidFill>
              </a:rPr>
              <a:t>Hypergraphs connect groups of patients, shared patterns</a:t>
            </a:r>
            <a:endParaRPr sz="1200">
              <a:solidFill>
                <a:schemeClr val="dk1"/>
              </a:solidFill>
            </a:endParaRPr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200">
                <a:solidFill>
                  <a:schemeClr val="dk1"/>
                </a:solidFill>
              </a:rPr>
              <a:t>Improve modeling of overlapping disease classes</a:t>
            </a:r>
            <a:endParaRPr sz="1200">
              <a:solidFill>
                <a:schemeClr val="dk1"/>
              </a:solidFill>
            </a:endParaRPr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200">
                <a:solidFill>
                  <a:schemeClr val="dk1"/>
                </a:solidFill>
              </a:rPr>
              <a:t>Many approaches use static, pre-defined hyperedges </a:t>
            </a:r>
            <a:endParaRPr sz="1200">
              <a:solidFill>
                <a:schemeClr val="dk1"/>
              </a:solidFill>
            </a:endParaRPr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200">
                <a:solidFill>
                  <a:schemeClr val="dk1"/>
                </a:solidFill>
              </a:rPr>
              <a:t>Key: </a:t>
            </a:r>
            <a:r>
              <a:rPr lang="en" sz="1200">
                <a:solidFill>
                  <a:schemeClr val="dk1"/>
                </a:solidFill>
              </a:rPr>
              <a:t>Hypergraphs shown to help capture richer relationships between patients  [6,7,8]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Multi-Modal Fusion for Neurological Diagnoses</a:t>
            </a:r>
            <a:endParaRPr b="1">
              <a:solidFill>
                <a:schemeClr val="dk1"/>
              </a:solidFill>
            </a:endParaRPr>
          </a:p>
          <a:p>
            <a:pPr indent="-29908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200">
                <a:solidFill>
                  <a:schemeClr val="dk1"/>
                </a:solidFill>
              </a:rPr>
              <a:t>MRI and clinical data provide complementary signals</a:t>
            </a:r>
            <a:endParaRPr sz="1200">
              <a:solidFill>
                <a:schemeClr val="dk1"/>
              </a:solidFill>
            </a:endParaRPr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200">
                <a:solidFill>
                  <a:schemeClr val="dk1"/>
                </a:solidFill>
              </a:rPr>
              <a:t>Fusing these together with methods like DAFT, Hypernetworks, and Cross-attention shown to improve diagnostic accuracy [9,10,11]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-3908625" y="2987375"/>
            <a:ext cx="1857600" cy="12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[1] Kipf &amp; Welling, 2017</a:t>
            </a:r>
            <a:endParaRPr sz="12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[2] Zhou et al.,2023</a:t>
            </a:r>
            <a:endParaRPr sz="12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[3] Lin et al., 2023</a:t>
            </a:r>
            <a:endParaRPr sz="12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[4] Kazemia et al., 2024</a:t>
            </a:r>
            <a:endParaRPr sz="12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[5] Yang et al., 2024</a:t>
            </a:r>
            <a:endParaRPr sz="12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[6] Ding et al., 2023</a:t>
            </a:r>
            <a:endParaRPr sz="12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-2051175" y="2987375"/>
            <a:ext cx="1901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[7] Yang et al., 2022</a:t>
            </a:r>
            <a:endParaRPr sz="12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[8] Liu et al., 2025</a:t>
            </a:r>
            <a:endParaRPr sz="12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[9] Pölsterl et al., 2021</a:t>
            </a:r>
            <a:endParaRPr sz="12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[10] Duenias et al., 2024</a:t>
            </a:r>
            <a:endParaRPr sz="12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[11] Xue et al., 2024</a:t>
            </a:r>
            <a:endParaRPr sz="1200"/>
          </a:p>
        </p:txBody>
      </p:sp>
      <p:sp>
        <p:nvSpPr>
          <p:cNvPr id="84" name="Google Shape;84;p15"/>
          <p:cNvSpPr txBox="1"/>
          <p:nvPr/>
        </p:nvSpPr>
        <p:spPr>
          <a:xfrm>
            <a:off x="4319363" y="4285475"/>
            <a:ext cx="16635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9E9E9E"/>
                </a:solidFill>
              </a:rPr>
              <a:t>[1] Kipf &amp; Welling, 2017</a:t>
            </a:r>
            <a:endParaRPr sz="1100">
              <a:solidFill>
                <a:srgbClr val="9E9E9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9E9E9E"/>
                </a:solidFill>
              </a:rPr>
              <a:t>[2] Zhou et al.,2023</a:t>
            </a:r>
            <a:endParaRPr sz="1100">
              <a:solidFill>
                <a:srgbClr val="9E9E9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9E9E9E"/>
                </a:solidFill>
              </a:rPr>
              <a:t>[3] Lin et al., 2023</a:t>
            </a:r>
            <a:endParaRPr sz="1100">
              <a:solidFill>
                <a:srgbClr val="9E9E9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9E9E9E"/>
                </a:solidFill>
              </a:rPr>
              <a:t>[4] Kazemia et al., 2024</a:t>
            </a:r>
            <a:endParaRPr sz="1100">
              <a:solidFill>
                <a:srgbClr val="9E9E9E"/>
              </a:solidFill>
            </a:endParaRPr>
          </a:p>
        </p:txBody>
      </p:sp>
      <p:sp>
        <p:nvSpPr>
          <p:cNvPr id="85" name="Google Shape;85;p15"/>
          <p:cNvSpPr txBox="1"/>
          <p:nvPr/>
        </p:nvSpPr>
        <p:spPr>
          <a:xfrm>
            <a:off x="5881961" y="4285475"/>
            <a:ext cx="17028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9E9E9E"/>
                </a:solidFill>
              </a:rPr>
              <a:t>[5] Yang et al., 2024</a:t>
            </a:r>
            <a:endParaRPr sz="1100">
              <a:solidFill>
                <a:srgbClr val="9E9E9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9E9E9E"/>
                </a:solidFill>
              </a:rPr>
              <a:t>[6] Ding et al., 2023</a:t>
            </a:r>
            <a:endParaRPr sz="1100">
              <a:solidFill>
                <a:srgbClr val="9E9E9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9E9E9E"/>
                </a:solidFill>
              </a:rPr>
              <a:t>[7] Yang et al., 2022</a:t>
            </a:r>
            <a:endParaRPr sz="1100">
              <a:solidFill>
                <a:srgbClr val="9E9E9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9E9E9E"/>
                </a:solidFill>
              </a:rPr>
              <a:t>[8] Liu et al., 2025</a:t>
            </a:r>
            <a:endParaRPr sz="1100">
              <a:solidFill>
                <a:srgbClr val="9E9E9E"/>
              </a:solidFill>
            </a:endParaRPr>
          </a:p>
        </p:txBody>
      </p:sp>
      <p:sp>
        <p:nvSpPr>
          <p:cNvPr id="86" name="Google Shape;86;p15"/>
          <p:cNvSpPr txBox="1"/>
          <p:nvPr/>
        </p:nvSpPr>
        <p:spPr>
          <a:xfrm>
            <a:off x="7328738" y="4285475"/>
            <a:ext cx="18165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9E9E9E"/>
                </a:solidFill>
              </a:rPr>
              <a:t>[9] Pölsterl et al., 2021</a:t>
            </a:r>
            <a:endParaRPr sz="1100">
              <a:solidFill>
                <a:srgbClr val="9E9E9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9E9E9E"/>
                </a:solidFill>
              </a:rPr>
              <a:t>[10] Duenias et al., 2024</a:t>
            </a:r>
            <a:endParaRPr sz="1100">
              <a:solidFill>
                <a:srgbClr val="9E9E9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9E9E9E"/>
                </a:solidFill>
              </a:rPr>
              <a:t>[11] Xue et al., 2024</a:t>
            </a:r>
            <a:endParaRPr sz="1100">
              <a:solidFill>
                <a:srgbClr val="9E9E9E"/>
              </a:solidFill>
            </a:endParaRPr>
          </a:p>
        </p:txBody>
      </p:sp>
      <p:cxnSp>
        <p:nvCxnSpPr>
          <p:cNvPr id="87" name="Google Shape;87;p15"/>
          <p:cNvCxnSpPr/>
          <p:nvPr/>
        </p:nvCxnSpPr>
        <p:spPr>
          <a:xfrm>
            <a:off x="4317150" y="4285475"/>
            <a:ext cx="48324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/>
          <p:nvPr>
            <p:ph type="title"/>
          </p:nvPr>
        </p:nvSpPr>
        <p:spPr>
          <a:xfrm>
            <a:off x="311700" y="197950"/>
            <a:ext cx="8520600" cy="8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00"/>
              <a:t>Preprocessing: National Alzheimer's Coordinating Center (NACC) Data</a:t>
            </a:r>
            <a:endParaRPr sz="2500"/>
          </a:p>
        </p:txBody>
      </p:sp>
      <p:sp>
        <p:nvSpPr>
          <p:cNvPr id="93" name="Google Shape;93;p16"/>
          <p:cNvSpPr txBox="1"/>
          <p:nvPr>
            <p:ph idx="1" type="body"/>
          </p:nvPr>
        </p:nvSpPr>
        <p:spPr>
          <a:xfrm>
            <a:off x="440700" y="1461075"/>
            <a:ext cx="3944100" cy="354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/>
              <a:t>Tabular Clinical Data</a:t>
            </a:r>
            <a:r>
              <a:rPr b="1" lang="en" u="sng"/>
              <a:t> preprocessing:</a:t>
            </a:r>
            <a:endParaRPr b="1" u="sng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Patient Selection: </a:t>
            </a:r>
            <a:r>
              <a:rPr lang="en"/>
              <a:t>Sort through the tabular data to select a cohort of patients equally distributed among the 6 Neurodegenerative classes (200-300 patients out of 52,000).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Feature Selection:</a:t>
            </a:r>
            <a:r>
              <a:rPr lang="en"/>
              <a:t> Find and extract 32 unique tabular features for each patient in the dataset.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Normalize:</a:t>
            </a:r>
            <a:r>
              <a:rPr lang="en"/>
              <a:t>  Scale and Normalize each feature in the dataset so no one feature overpowers the others.</a:t>
            </a:r>
            <a:endParaRPr sz="1400"/>
          </a:p>
        </p:txBody>
      </p:sp>
      <p:sp>
        <p:nvSpPr>
          <p:cNvPr id="94" name="Google Shape;94;p16"/>
          <p:cNvSpPr txBox="1"/>
          <p:nvPr>
            <p:ph idx="2" type="body"/>
          </p:nvPr>
        </p:nvSpPr>
        <p:spPr>
          <a:xfrm>
            <a:off x="4753000" y="1461075"/>
            <a:ext cx="3999900" cy="354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/>
              <a:t>MRI Image preprocessing:</a:t>
            </a:r>
            <a:endParaRPr b="1" u="sng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Scan selection:</a:t>
            </a:r>
            <a:r>
              <a:rPr lang="en"/>
              <a:t> Get the best T1-weighted scan for each selected patient in the cohort.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Spatial standardization:</a:t>
            </a:r>
            <a:r>
              <a:rPr lang="en"/>
              <a:t> Force every scan into the exact same anatomical orientation and scale.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Cropping to fixed size:</a:t>
            </a:r>
            <a:r>
              <a:rPr lang="en"/>
              <a:t> Remove background and pad as needed. Center crop to 96x96x96 voxels.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Intensity normalization:</a:t>
            </a:r>
            <a:r>
              <a:rPr lang="en"/>
              <a:t> Rescale to [0, 1] for cross-scanner comparability.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/>
          <p:nvPr/>
        </p:nvSpPr>
        <p:spPr>
          <a:xfrm>
            <a:off x="0" y="4372800"/>
            <a:ext cx="9144000" cy="770700"/>
          </a:xfrm>
          <a:prstGeom prst="rect">
            <a:avLst/>
          </a:prstGeom>
          <a:solidFill>
            <a:srgbClr val="674EA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" name="Google Shape;100;p17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Architecture: </a:t>
            </a:r>
            <a:r>
              <a:rPr lang="en"/>
              <a:t>Attention-Weighted Hypergraph Convolutional Network (AWHGCN) (Mongold)</a:t>
            </a:r>
            <a:endParaRPr/>
          </a:p>
        </p:txBody>
      </p:sp>
      <p:pic>
        <p:nvPicPr>
          <p:cNvPr id="101" name="Google Shape;101;p17" title="FML Final Diagr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2725"/>
            <a:ext cx="9144003" cy="40540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/>
          <p:nvPr/>
        </p:nvSpPr>
        <p:spPr>
          <a:xfrm>
            <a:off x="0" y="4372800"/>
            <a:ext cx="9144000" cy="7707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" name="Google Shape;107;p18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Architecture: Hyperfuse (Furlan)</a:t>
            </a:r>
            <a:endParaRPr/>
          </a:p>
        </p:txBody>
      </p:sp>
      <p:sp>
        <p:nvSpPr>
          <p:cNvPr id="108" name="Google Shape;108;p18"/>
          <p:cNvSpPr/>
          <p:nvPr/>
        </p:nvSpPr>
        <p:spPr>
          <a:xfrm>
            <a:off x="111675" y="2551645"/>
            <a:ext cx="1135500" cy="1135500"/>
          </a:xfrm>
          <a:prstGeom prst="ellipse">
            <a:avLst/>
          </a:prstGeom>
          <a:noFill/>
          <a:ln cap="flat" cmpd="sng" w="102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8200" lIns="98200" spcFirstLastPara="1" rIns="98200" wrap="square" tIns="98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4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Tabular</a:t>
            </a:r>
            <a:endParaRPr sz="1404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4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Clinical</a:t>
            </a:r>
            <a:endParaRPr sz="1404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4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endParaRPr sz="1404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" name="Google Shape;109;p18"/>
          <p:cNvSpPr/>
          <p:nvPr/>
        </p:nvSpPr>
        <p:spPr>
          <a:xfrm>
            <a:off x="111675" y="1135700"/>
            <a:ext cx="1135500" cy="1135500"/>
          </a:xfrm>
          <a:prstGeom prst="ellipse">
            <a:avLst/>
          </a:prstGeom>
          <a:noFill/>
          <a:ln cap="flat" cmpd="sng" w="102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8200" lIns="98200" spcFirstLastPara="1" rIns="98200" wrap="square" tIns="98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4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MRI Image</a:t>
            </a:r>
            <a:endParaRPr sz="1404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4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endParaRPr sz="1404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" name="Google Shape;110;p18"/>
          <p:cNvSpPr/>
          <p:nvPr/>
        </p:nvSpPr>
        <p:spPr>
          <a:xfrm>
            <a:off x="1533075" y="1441550"/>
            <a:ext cx="1276500" cy="5238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3D CNN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18"/>
          <p:cNvSpPr/>
          <p:nvPr/>
        </p:nvSpPr>
        <p:spPr>
          <a:xfrm>
            <a:off x="3177413" y="1784725"/>
            <a:ext cx="957900" cy="714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Raw Patches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" name="Google Shape;112;p18"/>
          <p:cNvSpPr/>
          <p:nvPr/>
        </p:nvSpPr>
        <p:spPr>
          <a:xfrm>
            <a:off x="3177407" y="869188"/>
            <a:ext cx="957900" cy="714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Spatial Features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p18"/>
          <p:cNvSpPr/>
          <p:nvPr/>
        </p:nvSpPr>
        <p:spPr>
          <a:xfrm>
            <a:off x="1533075" y="2857909"/>
            <a:ext cx="1276500" cy="5238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Hyperedge Construction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" name="Google Shape;114;p18"/>
          <p:cNvSpPr/>
          <p:nvPr/>
        </p:nvSpPr>
        <p:spPr>
          <a:xfrm>
            <a:off x="3177425" y="2761939"/>
            <a:ext cx="957900" cy="714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Adjacency Matrix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" name="Google Shape;115;p18"/>
          <p:cNvSpPr/>
          <p:nvPr/>
        </p:nvSpPr>
        <p:spPr>
          <a:xfrm>
            <a:off x="4401025" y="2366750"/>
            <a:ext cx="1276500" cy="5238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Message Passing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Google Shape;116;p18"/>
          <p:cNvSpPr/>
          <p:nvPr/>
        </p:nvSpPr>
        <p:spPr>
          <a:xfrm>
            <a:off x="6634600" y="964750"/>
            <a:ext cx="1276500" cy="5238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Feature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Modulation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7762725" y="2221400"/>
            <a:ext cx="1276500" cy="5238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Classification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Head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" name="Google Shape;118;p18"/>
          <p:cNvSpPr/>
          <p:nvPr/>
        </p:nvSpPr>
        <p:spPr>
          <a:xfrm>
            <a:off x="6004315" y="2271200"/>
            <a:ext cx="957900" cy="714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Blended Patches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9" name="Google Shape;119;p18"/>
          <p:cNvCxnSpPr>
            <a:stCxn id="108" idx="6"/>
            <a:endCxn id="113" idx="1"/>
          </p:cNvCxnSpPr>
          <p:nvPr/>
        </p:nvCxnSpPr>
        <p:spPr>
          <a:xfrm>
            <a:off x="1247175" y="3119395"/>
            <a:ext cx="285900" cy="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" name="Google Shape;120;p18"/>
          <p:cNvCxnSpPr>
            <a:stCxn id="113" idx="3"/>
            <a:endCxn id="114" idx="1"/>
          </p:cNvCxnSpPr>
          <p:nvPr/>
        </p:nvCxnSpPr>
        <p:spPr>
          <a:xfrm flipH="1" rot="10800000">
            <a:off x="2809575" y="3119509"/>
            <a:ext cx="367800" cy="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" name="Google Shape;121;p18"/>
          <p:cNvCxnSpPr>
            <a:stCxn id="109" idx="6"/>
            <a:endCxn id="110" idx="1"/>
          </p:cNvCxnSpPr>
          <p:nvPr/>
        </p:nvCxnSpPr>
        <p:spPr>
          <a:xfrm>
            <a:off x="1247175" y="1703450"/>
            <a:ext cx="285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2" name="Google Shape;122;p18"/>
          <p:cNvCxnSpPr>
            <a:stCxn id="110" idx="3"/>
            <a:endCxn id="112" idx="1"/>
          </p:cNvCxnSpPr>
          <p:nvPr/>
        </p:nvCxnSpPr>
        <p:spPr>
          <a:xfrm flipH="1" rot="10800000">
            <a:off x="2809575" y="1226750"/>
            <a:ext cx="367800" cy="47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" name="Google Shape;123;p18"/>
          <p:cNvCxnSpPr>
            <a:stCxn id="110" idx="3"/>
            <a:endCxn id="111" idx="1"/>
          </p:cNvCxnSpPr>
          <p:nvPr/>
        </p:nvCxnSpPr>
        <p:spPr>
          <a:xfrm>
            <a:off x="2809575" y="1703450"/>
            <a:ext cx="367800" cy="43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" name="Google Shape;124;p18"/>
          <p:cNvCxnSpPr>
            <a:stCxn id="115" idx="3"/>
            <a:endCxn id="118" idx="1"/>
          </p:cNvCxnSpPr>
          <p:nvPr/>
        </p:nvCxnSpPr>
        <p:spPr>
          <a:xfrm>
            <a:off x="5677525" y="2628650"/>
            <a:ext cx="326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" name="Google Shape;125;p18"/>
          <p:cNvCxnSpPr>
            <a:stCxn id="112" idx="3"/>
            <a:endCxn id="116" idx="1"/>
          </p:cNvCxnSpPr>
          <p:nvPr/>
        </p:nvCxnSpPr>
        <p:spPr>
          <a:xfrm>
            <a:off x="4135307" y="1226638"/>
            <a:ext cx="2499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6" name="Google Shape;126;p18"/>
          <p:cNvCxnSpPr>
            <a:stCxn id="118" idx="3"/>
            <a:endCxn id="116" idx="2"/>
          </p:cNvCxnSpPr>
          <p:nvPr/>
        </p:nvCxnSpPr>
        <p:spPr>
          <a:xfrm flipH="1" rot="10800000">
            <a:off x="6962215" y="1488650"/>
            <a:ext cx="310500" cy="11400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7" name="Google Shape;127;p18"/>
          <p:cNvCxnSpPr>
            <a:stCxn id="116" idx="3"/>
            <a:endCxn id="117" idx="0"/>
          </p:cNvCxnSpPr>
          <p:nvPr/>
        </p:nvCxnSpPr>
        <p:spPr>
          <a:xfrm>
            <a:off x="7911100" y="1226650"/>
            <a:ext cx="489900" cy="9948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8" name="Google Shape;128;p18"/>
          <p:cNvCxnSpPr>
            <a:stCxn id="116" idx="0"/>
            <a:endCxn id="110" idx="0"/>
          </p:cNvCxnSpPr>
          <p:nvPr/>
        </p:nvCxnSpPr>
        <p:spPr>
          <a:xfrm rot="5400000">
            <a:off x="4483750" y="-1347650"/>
            <a:ext cx="476700" cy="5101500"/>
          </a:xfrm>
          <a:prstGeom prst="bentConnector3">
            <a:avLst>
              <a:gd fmla="val -75886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29" name="Google Shape;129;p18"/>
          <p:cNvCxnSpPr>
            <a:stCxn id="111" idx="3"/>
            <a:endCxn id="115" idx="0"/>
          </p:cNvCxnSpPr>
          <p:nvPr/>
        </p:nvCxnSpPr>
        <p:spPr>
          <a:xfrm>
            <a:off x="4135313" y="2142175"/>
            <a:ext cx="903900" cy="2247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0" name="Google Shape;130;p18"/>
          <p:cNvCxnSpPr>
            <a:stCxn id="114" idx="3"/>
            <a:endCxn id="115" idx="2"/>
          </p:cNvCxnSpPr>
          <p:nvPr/>
        </p:nvCxnSpPr>
        <p:spPr>
          <a:xfrm flipH="1" rot="10800000">
            <a:off x="4135325" y="2890489"/>
            <a:ext cx="903900" cy="2289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31" name="Google Shape;131;p18"/>
          <p:cNvSpPr txBox="1"/>
          <p:nvPr/>
        </p:nvSpPr>
        <p:spPr>
          <a:xfrm>
            <a:off x="3596050" y="233825"/>
            <a:ext cx="22521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To Next Layer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" name="Google Shape;132;p18"/>
          <p:cNvSpPr txBox="1"/>
          <p:nvPr/>
        </p:nvSpPr>
        <p:spPr>
          <a:xfrm>
            <a:off x="2607925" y="3550450"/>
            <a:ext cx="22521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same Adjacency Matrix is used for every layer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9"/>
          <p:cNvSpPr/>
          <p:nvPr/>
        </p:nvSpPr>
        <p:spPr>
          <a:xfrm>
            <a:off x="0" y="4372800"/>
            <a:ext cx="9144000" cy="7707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" name="Google Shape;138;p19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Architecture: Gated Cross-Modal Hypergraph Network (GCMHN) (Noone)</a:t>
            </a:r>
            <a:endParaRPr/>
          </a:p>
        </p:txBody>
      </p:sp>
      <p:pic>
        <p:nvPicPr>
          <p:cNvPr id="139" name="Google Shape;13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08250"/>
            <a:ext cx="8839202" cy="37630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08243"/>
            <a:ext cx="9144001" cy="34357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583947"/>
            <a:ext cx="9144001" cy="32116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583957"/>
            <a:ext cx="9144001" cy="3415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0"/>
          <p:cNvSpPr txBox="1"/>
          <p:nvPr>
            <p:ph type="title"/>
          </p:nvPr>
        </p:nvSpPr>
        <p:spPr>
          <a:xfrm>
            <a:off x="248225" y="35437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graphicFrame>
        <p:nvGraphicFramePr>
          <p:cNvPr id="148" name="Google Shape;148;p20"/>
          <p:cNvGraphicFramePr/>
          <p:nvPr/>
        </p:nvGraphicFramePr>
        <p:xfrm>
          <a:off x="1507613" y="1873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{3547FE84-73CE-4FAE-94A6-B26F7D73264B}</a:tableStyleId>
              </a:tblPr>
              <a:tblGrid>
                <a:gridCol w="1440250"/>
                <a:gridCol w="2195400"/>
                <a:gridCol w="1277175"/>
                <a:gridCol w="1215950"/>
              </a:tblGrid>
              <a:tr h="460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Model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Data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Accuracy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Macro-F</a:t>
                      </a:r>
                      <a:r>
                        <a:rPr b="1" lang="en">
                          <a:solidFill>
                            <a:schemeClr val="lt1"/>
                          </a:solidFill>
                        </a:rPr>
                        <a:t>1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460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CNN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3D MRI Images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0.670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0.659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472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XGBoost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Tabular Clinical Data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0.650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0.624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472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674EA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AWHGCN</a:t>
                      </a:r>
                      <a:endParaRPr b="1" sz="1300">
                        <a:solidFill>
                          <a:srgbClr val="674EA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674EA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Both</a:t>
                      </a:r>
                      <a:endParaRPr b="1" sz="1300">
                        <a:solidFill>
                          <a:srgbClr val="674EA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674EA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0.29</a:t>
                      </a:r>
                      <a:endParaRPr b="1">
                        <a:solidFill>
                          <a:srgbClr val="674EA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674EA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0.23</a:t>
                      </a:r>
                      <a:endParaRPr b="1">
                        <a:solidFill>
                          <a:srgbClr val="674EA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497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Hyperfuse</a:t>
                      </a:r>
                      <a:endParaRPr b="1">
                        <a:solidFill>
                          <a:schemeClr val="accent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accent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Both</a:t>
                      </a:r>
                      <a:endParaRPr b="1">
                        <a:solidFill>
                          <a:schemeClr val="accent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0.348</a:t>
                      </a:r>
                      <a:endParaRPr b="1">
                        <a:solidFill>
                          <a:schemeClr val="accent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0.312</a:t>
                      </a:r>
                      <a:endParaRPr b="1">
                        <a:solidFill>
                          <a:schemeClr val="accent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460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GCMHN</a:t>
                      </a:r>
                      <a:endParaRPr b="1">
                        <a:solidFill>
                          <a:schemeClr val="accent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accent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Both</a:t>
                      </a:r>
                      <a:endParaRPr b="1">
                        <a:solidFill>
                          <a:schemeClr val="accent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0.20</a:t>
                      </a:r>
                      <a:endParaRPr b="1">
                        <a:solidFill>
                          <a:schemeClr val="accent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0.13</a:t>
                      </a:r>
                      <a:endParaRPr b="1">
                        <a:solidFill>
                          <a:schemeClr val="accent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1"/>
          <p:cNvSpPr txBox="1"/>
          <p:nvPr>
            <p:ph type="title"/>
          </p:nvPr>
        </p:nvSpPr>
        <p:spPr>
          <a:xfrm>
            <a:off x="316675" y="3577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- Heatmaps</a:t>
            </a:r>
            <a:endParaRPr/>
          </a:p>
        </p:txBody>
      </p:sp>
      <p:sp>
        <p:nvSpPr>
          <p:cNvPr id="154" name="Google Shape;154;p21"/>
          <p:cNvSpPr/>
          <p:nvPr/>
        </p:nvSpPr>
        <p:spPr>
          <a:xfrm>
            <a:off x="6094422" y="2051350"/>
            <a:ext cx="3054600" cy="2712300"/>
          </a:xfrm>
          <a:prstGeom prst="rect">
            <a:avLst/>
          </a:prstGeom>
          <a:solidFill>
            <a:schemeClr val="lt2"/>
          </a:solidFill>
          <a:ln cap="flat" cmpd="sng" w="8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125" lIns="79125" spcFirstLastPara="1" rIns="79125" wrap="square" tIns="79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12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5" name="Google Shape;15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6478" y="2051375"/>
            <a:ext cx="3054763" cy="271228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1"/>
          <p:cNvSpPr/>
          <p:nvPr/>
        </p:nvSpPr>
        <p:spPr>
          <a:xfrm>
            <a:off x="-12" y="1269850"/>
            <a:ext cx="3054600" cy="781500"/>
          </a:xfrm>
          <a:prstGeom prst="rect">
            <a:avLst/>
          </a:prstGeom>
          <a:solidFill>
            <a:srgbClr val="674E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AWHGCN</a:t>
            </a:r>
            <a:endParaRPr sz="2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" name="Google Shape;157;p21"/>
          <p:cNvSpPr/>
          <p:nvPr/>
        </p:nvSpPr>
        <p:spPr>
          <a:xfrm>
            <a:off x="-5000" y="4763625"/>
            <a:ext cx="3054600" cy="379800"/>
          </a:xfrm>
          <a:prstGeom prst="rect">
            <a:avLst/>
          </a:prstGeom>
          <a:solidFill>
            <a:srgbClr val="674E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" name="Google Shape;158;p21"/>
          <p:cNvSpPr/>
          <p:nvPr/>
        </p:nvSpPr>
        <p:spPr>
          <a:xfrm>
            <a:off x="3049663" y="1269850"/>
            <a:ext cx="3054600" cy="781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Hyperfuse</a:t>
            </a:r>
            <a:endParaRPr sz="2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" name="Google Shape;159;p21"/>
          <p:cNvSpPr/>
          <p:nvPr/>
        </p:nvSpPr>
        <p:spPr>
          <a:xfrm>
            <a:off x="6104338" y="1269850"/>
            <a:ext cx="3054600" cy="781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GCMHN</a:t>
            </a:r>
            <a:endParaRPr sz="2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" name="Google Shape;160;p21"/>
          <p:cNvSpPr/>
          <p:nvPr/>
        </p:nvSpPr>
        <p:spPr>
          <a:xfrm>
            <a:off x="3049675" y="4763625"/>
            <a:ext cx="3054600" cy="379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" name="Google Shape;161;p21"/>
          <p:cNvSpPr/>
          <p:nvPr/>
        </p:nvSpPr>
        <p:spPr>
          <a:xfrm>
            <a:off x="6104350" y="4763625"/>
            <a:ext cx="3054600" cy="379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2" name="Google Shape;16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5" y="2051363"/>
            <a:ext cx="3054598" cy="2712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1" title="avg_prob_hm (1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94350" y="2051350"/>
            <a:ext cx="3064600" cy="271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2"/>
          <p:cNvSpPr txBox="1"/>
          <p:nvPr>
            <p:ph type="title"/>
          </p:nvPr>
        </p:nvSpPr>
        <p:spPr>
          <a:xfrm>
            <a:off x="311700" y="364150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69" name="Google Shape;169;p22"/>
          <p:cNvSpPr txBox="1"/>
          <p:nvPr/>
        </p:nvSpPr>
        <p:spPr>
          <a:xfrm>
            <a:off x="342900" y="1522475"/>
            <a:ext cx="8458200" cy="32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Hypergraph fusion underperformed unimodal baselines. All three architectures fell well below the stand-alone CNN (0.67) and XGBoost (0.65). The soft confusion matrices show us the predictions diffuse across classes instead of concentrating on the diagonal. </a:t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Takeaways:</a:t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Training on a very small fraction of data made it so that each model was overly architected and prone to model collapse.</a:t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Strong per-modality encoders matter more than the fusion layer. </a:t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By using aggressive subsampling (228 out of 52 thousand), traded class balance for statistical power. The models couldn't learn six-way discriminative boundaries from that little data, regardless of architecture. </a:t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3"/>
          <p:cNvSpPr txBox="1"/>
          <p:nvPr>
            <p:ph type="title"/>
          </p:nvPr>
        </p:nvSpPr>
        <p:spPr>
          <a:xfrm>
            <a:off x="1454100" y="1935025"/>
            <a:ext cx="6235800" cy="127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7100"/>
              <a:t>Thanks for Listening!</a:t>
            </a:r>
            <a:endParaRPr sz="7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